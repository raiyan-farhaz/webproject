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6" r:id="rId9"/>
    <p:sldId id="262" r:id="rId10"/>
    <p:sldId id="265"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B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0" autoAdjust="0"/>
  </p:normalViewPr>
  <p:slideViewPr>
    <p:cSldViewPr snapToGrid="0">
      <p:cViewPr varScale="1">
        <p:scale>
          <a:sx n="80" d="100"/>
          <a:sy n="80" d="100"/>
        </p:scale>
        <p:origin x="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5006-C696-45A0-E317-D61621B5DF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A8AE56-B937-A99E-E0DB-ECA123D2BA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66F4C6-C7D5-3ED9-13D6-4823C0BE52A2}"/>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34C423AF-DE6A-8892-B1F2-AB6A02C93A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DC3F20-3B03-8005-DA00-F3F33842BCC3}"/>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1633660648"/>
      </p:ext>
    </p:extLst>
  </p:cSld>
  <p:clrMapOvr>
    <a:masterClrMapping/>
  </p:clrMapOvr>
  <p:transition spd="med">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5F96B-117F-7BFF-7F1D-CA12057F35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289597-1D64-EFDC-DF3F-B053BB85FE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A3CB0-2A0A-2610-2B30-858FAB5066BA}"/>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E516CC4C-6F44-A096-AACF-226C5CB60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474B9-1C42-54DF-BA5D-9859DB1E33DA}"/>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831785142"/>
      </p:ext>
    </p:extLst>
  </p:cSld>
  <p:clrMapOvr>
    <a:masterClrMapping/>
  </p:clrMapOvr>
  <p:transition spd="med">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903C-9504-F3DB-1A00-8B8CC6039D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6F7398-22D0-5D95-8976-0EBB11ED72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2B3870-AC0A-B4B7-3C93-D7B09590E222}"/>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A2FFBA48-61C5-BE25-BE3B-EC7FE717C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67592E-8450-0667-AAA8-FB2A44A8094F}"/>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1766526290"/>
      </p:ext>
    </p:extLst>
  </p:cSld>
  <p:clrMapOvr>
    <a:masterClrMapping/>
  </p:clrMapOvr>
  <p:transition spd="med">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CECCB-2C1D-21C8-B6F8-7A80F1B76E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73A443-5F7B-3AAF-7014-111A16965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A84C02-A867-6928-9960-117EE49B9C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F3EEA-1418-B700-C9D4-593CF20F6361}"/>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6" name="Footer Placeholder 5">
            <a:extLst>
              <a:ext uri="{FF2B5EF4-FFF2-40B4-BE49-F238E27FC236}">
                <a16:creationId xmlns:a16="http://schemas.microsoft.com/office/drawing/2014/main" id="{47ECAA70-67C6-76A8-C11A-FA8E8B64F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44CCF6-DE32-06A2-5688-B2017BA60C22}"/>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3351289864"/>
      </p:ext>
    </p:extLst>
  </p:cSld>
  <p:clrMapOvr>
    <a:masterClrMapping/>
  </p:clrMapOvr>
  <p:transition spd="med">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EABD-FA4B-CB75-9851-84D14CCECB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E754A3-69B0-B830-85D7-4EBCFA6268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3742DB-C729-E0EB-82BC-11160BDE8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6E53E2-3EDA-A30F-2F4A-72DF717E5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D56F34-155A-AE9B-6993-8B9A8E6D19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E7AC66-E512-A967-964E-F34ACA2F6344}"/>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8" name="Footer Placeholder 7">
            <a:extLst>
              <a:ext uri="{FF2B5EF4-FFF2-40B4-BE49-F238E27FC236}">
                <a16:creationId xmlns:a16="http://schemas.microsoft.com/office/drawing/2014/main" id="{03D16D9F-0F7A-B2E8-D1AA-2EAF91B602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88F6E9-B0EE-EC49-4B4E-2C2A58A179D2}"/>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3659498545"/>
      </p:ext>
    </p:extLst>
  </p:cSld>
  <p:clrMapOvr>
    <a:masterClrMapping/>
  </p:clrMapOvr>
  <p:transition spd="med">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121A-91CD-0AD1-C15A-D48E973486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82D902-A4C8-83B6-90C1-B4678E2B3096}"/>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4" name="Footer Placeholder 3">
            <a:extLst>
              <a:ext uri="{FF2B5EF4-FFF2-40B4-BE49-F238E27FC236}">
                <a16:creationId xmlns:a16="http://schemas.microsoft.com/office/drawing/2014/main" id="{5298B1E4-AEFA-4EAF-8EC7-BACA324A34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E5FDE2-FE88-F129-8CA7-D12BEE1F012B}"/>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4124829588"/>
      </p:ext>
    </p:extLst>
  </p:cSld>
  <p:clrMapOvr>
    <a:masterClrMapping/>
  </p:clrMapOvr>
  <p:transition spd="med">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E85EB8-0839-6C2C-EE15-AD1896991075}"/>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3" name="Footer Placeholder 2">
            <a:extLst>
              <a:ext uri="{FF2B5EF4-FFF2-40B4-BE49-F238E27FC236}">
                <a16:creationId xmlns:a16="http://schemas.microsoft.com/office/drawing/2014/main" id="{EDBC2C19-D487-B656-A47F-BC7ED0D9A1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8DCE90-633B-ADA3-D414-5B1B59D79511}"/>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276765412"/>
      </p:ext>
    </p:extLst>
  </p:cSld>
  <p:clrMapOvr>
    <a:masterClrMapping/>
  </p:clrMapOvr>
  <p:transition spd="med">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54EB-2890-61CB-D1BF-97E14216F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A9BC36-2381-33FC-44B7-576AF16154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5AAD6C-FC82-2032-C01B-2950E3B18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51246-DAB7-088F-084D-D3E7DDF4E631}"/>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6" name="Footer Placeholder 5">
            <a:extLst>
              <a:ext uri="{FF2B5EF4-FFF2-40B4-BE49-F238E27FC236}">
                <a16:creationId xmlns:a16="http://schemas.microsoft.com/office/drawing/2014/main" id="{8488DD86-FBBA-D2C3-6569-37733AB63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EE391-0E2C-6299-7CA1-6D14FDF3A218}"/>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3794391118"/>
      </p:ext>
    </p:extLst>
  </p:cSld>
  <p:clrMapOvr>
    <a:masterClrMapping/>
  </p:clrMapOvr>
  <p:transition spd="med">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DDB47-2A1A-2A6E-2819-52F813BF1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7E4148-9DC2-A733-8131-48304F59C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ECD646-A91C-4CF7-2D06-37EDA79F3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91BFF2-9CB9-BE86-A890-B4FB8FC066B6}"/>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6" name="Footer Placeholder 5">
            <a:extLst>
              <a:ext uri="{FF2B5EF4-FFF2-40B4-BE49-F238E27FC236}">
                <a16:creationId xmlns:a16="http://schemas.microsoft.com/office/drawing/2014/main" id="{3A6C78D8-5529-5532-B4D8-7989B80213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CEE40-3137-00C2-1E1A-16C22AFF206C}"/>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952066829"/>
      </p:ext>
    </p:extLst>
  </p:cSld>
  <p:clrMapOvr>
    <a:masterClrMapping/>
  </p:clrMapOvr>
  <p:transition spd="med">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765F-73E9-CED7-9166-1BBFEB088A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879F0C-8E66-8F82-469F-AC97E49647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691CE2-F277-78CE-B923-B818530BB98B}"/>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5169DEEE-0F4B-0FB1-C4BF-1C54A3E60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B3EE1-1D59-9983-A791-91A041D2F3EC}"/>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2190112170"/>
      </p:ext>
    </p:extLst>
  </p:cSld>
  <p:clrMapOvr>
    <a:masterClrMapping/>
  </p:clrMapOvr>
  <p:transition spd="med">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528A9-AD73-CCFC-59F3-407C56E272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AD3CB3-30DE-D696-3D06-766341396C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EAC5B-68CF-7722-54FC-4B09C437A0AB}"/>
              </a:ext>
            </a:extLst>
          </p:cNvPr>
          <p:cNvSpPr>
            <a:spLocks noGrp="1"/>
          </p:cNvSpPr>
          <p:nvPr>
            <p:ph type="dt" sz="half" idx="10"/>
          </p:nvPr>
        </p:nvSpPr>
        <p:spPr/>
        <p:txBody>
          <a:body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7ED66AAA-7582-5624-2AD0-FC09A85EF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F6C9B-02BE-60D6-AEAA-FF82B16BF650}"/>
              </a:ext>
            </a:extLst>
          </p:cNvPr>
          <p:cNvSpPr>
            <a:spLocks noGrp="1"/>
          </p:cNvSpPr>
          <p:nvPr>
            <p:ph type="sldNum" sz="quarter" idx="12"/>
          </p:nvPr>
        </p:nvSpPr>
        <p:spPr/>
        <p:txBody>
          <a:bodyPr/>
          <a:lstStyle/>
          <a:p>
            <a:fld id="{FD169310-4B06-4051-B256-BC8BB6E48585}" type="slidenum">
              <a:rPr lang="en-US" smtClean="0"/>
              <a:t>‹#›</a:t>
            </a:fld>
            <a:endParaRPr lang="en-US"/>
          </a:p>
        </p:txBody>
      </p:sp>
    </p:spTree>
    <p:extLst>
      <p:ext uri="{BB962C8B-B14F-4D97-AF65-F5344CB8AC3E}">
        <p14:creationId xmlns:p14="http://schemas.microsoft.com/office/powerpoint/2010/main" val="1746311571"/>
      </p:ext>
    </p:extLst>
  </p:cSld>
  <p:clrMapOvr>
    <a:masterClrMapping/>
  </p:clrMapOvr>
  <p:transition spd="med">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660B1-FFC6-59B4-53B2-5118F0309B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A5183F-153E-266B-7C13-84953C0CF3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B1F04-474E-F225-B9FA-4D0745A6D6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707D1-BEC7-479F-B452-2475BB35711D}" type="datetimeFigureOut">
              <a:rPr lang="en-US" smtClean="0"/>
              <a:t>3/19/2024</a:t>
            </a:fld>
            <a:endParaRPr lang="en-US"/>
          </a:p>
        </p:txBody>
      </p:sp>
      <p:sp>
        <p:nvSpPr>
          <p:cNvPr id="5" name="Footer Placeholder 4">
            <a:extLst>
              <a:ext uri="{FF2B5EF4-FFF2-40B4-BE49-F238E27FC236}">
                <a16:creationId xmlns:a16="http://schemas.microsoft.com/office/drawing/2014/main" id="{90EC879C-CEA9-E9AE-085E-2D5A29D5FC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646993-3EF7-A1A4-60D0-69A00DE96E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169310-4B06-4051-B256-BC8BB6E48585}" type="slidenum">
              <a:rPr lang="en-US" smtClean="0"/>
              <a:t>‹#›</a:t>
            </a:fld>
            <a:endParaRPr lang="en-US"/>
          </a:p>
        </p:txBody>
      </p:sp>
    </p:spTree>
    <p:extLst>
      <p:ext uri="{BB962C8B-B14F-4D97-AF65-F5344CB8AC3E}">
        <p14:creationId xmlns:p14="http://schemas.microsoft.com/office/powerpoint/2010/main" val="2932429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split orient="ver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A339-846A-4DCC-11F1-281C49F5070D}"/>
              </a:ext>
            </a:extLst>
          </p:cNvPr>
          <p:cNvSpPr>
            <a:spLocks noGrp="1"/>
          </p:cNvSpPr>
          <p:nvPr>
            <p:ph type="ctrTitle"/>
          </p:nvPr>
        </p:nvSpPr>
        <p:spPr/>
        <p:txBody>
          <a:bodyPr/>
          <a:lstStyle/>
          <a:p>
            <a:r>
              <a:rPr lang="en-US" dirty="0"/>
              <a:t>How Is Education Different Now Than It Was In The 70’s</a:t>
            </a:r>
          </a:p>
        </p:txBody>
      </p:sp>
      <p:sp>
        <p:nvSpPr>
          <p:cNvPr id="3" name="Subtitle 2">
            <a:extLst>
              <a:ext uri="{FF2B5EF4-FFF2-40B4-BE49-F238E27FC236}">
                <a16:creationId xmlns:a16="http://schemas.microsoft.com/office/drawing/2014/main" id="{D27DE529-03C6-3E2A-13F3-5D18451BB683}"/>
              </a:ext>
            </a:extLst>
          </p:cNvPr>
          <p:cNvSpPr>
            <a:spLocks noGrp="1"/>
          </p:cNvSpPr>
          <p:nvPr>
            <p:ph type="subTitle" idx="1"/>
          </p:nvPr>
        </p:nvSpPr>
        <p:spPr/>
        <p:txBody>
          <a:bodyPr/>
          <a:lstStyle/>
          <a:p>
            <a:r>
              <a:rPr lang="en-US" dirty="0"/>
              <a:t>Group Presentation Assignment 2024</a:t>
            </a:r>
          </a:p>
        </p:txBody>
      </p:sp>
      <p:pic>
        <p:nvPicPr>
          <p:cNvPr id="5" name="Picture 4">
            <a:extLst>
              <a:ext uri="{FF2B5EF4-FFF2-40B4-BE49-F238E27FC236}">
                <a16:creationId xmlns:a16="http://schemas.microsoft.com/office/drawing/2014/main" id="{37B7961A-B2D4-472E-9C3F-3FB64C61D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653" y="4110807"/>
            <a:ext cx="4650658" cy="2478136"/>
          </a:xfrm>
          <a:prstGeom prst="rect">
            <a:avLst/>
          </a:prstGeom>
        </p:spPr>
      </p:pic>
    </p:spTree>
    <p:extLst>
      <p:ext uri="{BB962C8B-B14F-4D97-AF65-F5344CB8AC3E}">
        <p14:creationId xmlns:p14="http://schemas.microsoft.com/office/powerpoint/2010/main" val="1210300415"/>
      </p:ext>
    </p:extLst>
  </p:cSld>
  <p:clrMapOvr>
    <a:masterClrMapping/>
  </p:clrMapOvr>
  <p:transition spd="med">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EDDAC-2112-91A6-8871-EC281765D73E}"/>
              </a:ext>
            </a:extLst>
          </p:cNvPr>
          <p:cNvSpPr>
            <a:spLocks noGrp="1"/>
          </p:cNvSpPr>
          <p:nvPr>
            <p:ph type="title"/>
          </p:nvPr>
        </p:nvSpPr>
        <p:spPr/>
        <p:txBody>
          <a:bodyPr/>
          <a:lstStyle/>
          <a:p>
            <a:r>
              <a:rPr lang="en-US" dirty="0"/>
              <a:t>                      Group Presenters</a:t>
            </a:r>
          </a:p>
        </p:txBody>
      </p:sp>
      <p:sp>
        <p:nvSpPr>
          <p:cNvPr id="3" name="Content Placeholder 2">
            <a:extLst>
              <a:ext uri="{FF2B5EF4-FFF2-40B4-BE49-F238E27FC236}">
                <a16:creationId xmlns:a16="http://schemas.microsoft.com/office/drawing/2014/main" id="{F56C61BF-20F6-E35B-8DF4-7F406549542A}"/>
              </a:ext>
            </a:extLst>
          </p:cNvPr>
          <p:cNvSpPr>
            <a:spLocks noGrp="1"/>
          </p:cNvSpPr>
          <p:nvPr>
            <p:ph idx="1"/>
          </p:nvPr>
        </p:nvSpPr>
        <p:spPr/>
        <p:txBody>
          <a:bodyPr>
            <a:normAutofit lnSpcReduction="10000"/>
          </a:bodyPr>
          <a:lstStyle/>
          <a:p>
            <a:r>
              <a:rPr lang="en-US" b="1" dirty="0"/>
              <a:t>Presenters:</a:t>
            </a:r>
            <a:r>
              <a:rPr lang="en-US" dirty="0"/>
              <a:t> </a:t>
            </a:r>
          </a:p>
          <a:p>
            <a:pPr marL="0" indent="0">
              <a:buNone/>
            </a:pPr>
            <a:r>
              <a:rPr lang="en-US" dirty="0"/>
              <a:t>1)Muhammad Ahmed Syed    2) Raiyan Farhaz       3)Ryan </a:t>
            </a:r>
            <a:r>
              <a:rPr lang="en-US" dirty="0" err="1"/>
              <a:t>Malidina</a:t>
            </a:r>
            <a:r>
              <a:rPr lang="en-US" dirty="0"/>
              <a:t>                                                                                                                                  </a:t>
            </a:r>
          </a:p>
          <a:p>
            <a:endParaRPr lang="en-US" dirty="0"/>
          </a:p>
          <a:p>
            <a:endParaRPr lang="en-US" dirty="0"/>
          </a:p>
          <a:p>
            <a:r>
              <a:rPr lang="en-US" b="1" dirty="0"/>
              <a:t>Course:</a:t>
            </a:r>
            <a:r>
              <a:rPr lang="en-US" dirty="0"/>
              <a:t> Communication And Application.</a:t>
            </a:r>
          </a:p>
          <a:p>
            <a:endParaRPr lang="en-US" dirty="0"/>
          </a:p>
          <a:p>
            <a:r>
              <a:rPr lang="en-US" b="1" dirty="0" err="1"/>
              <a:t>Programme</a:t>
            </a:r>
            <a:r>
              <a:rPr lang="en-US" b="1" dirty="0"/>
              <a:t>:</a:t>
            </a:r>
            <a:r>
              <a:rPr lang="en-US" dirty="0"/>
              <a:t> Mobile And Web Computing.</a:t>
            </a:r>
          </a:p>
          <a:p>
            <a:endParaRPr lang="en-US" dirty="0"/>
          </a:p>
          <a:p>
            <a:r>
              <a:rPr lang="en-US" b="1" dirty="0"/>
              <a:t>Department:</a:t>
            </a:r>
            <a:r>
              <a:rPr lang="en-US" dirty="0"/>
              <a:t> Information Technology.</a:t>
            </a:r>
          </a:p>
        </p:txBody>
      </p:sp>
    </p:spTree>
    <p:extLst>
      <p:ext uri="{BB962C8B-B14F-4D97-AF65-F5344CB8AC3E}">
        <p14:creationId xmlns:p14="http://schemas.microsoft.com/office/powerpoint/2010/main" val="3941810038"/>
      </p:ext>
    </p:extLst>
  </p:cSld>
  <p:clrMapOvr>
    <a:masterClrMapping/>
  </p:clrMapOvr>
  <p:transition spd="med">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97F5-88BF-ADFD-06DF-0D2E00F1F951}"/>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C4646279-95B2-BB97-D6A1-CB2E2153A0DF}"/>
              </a:ext>
            </a:extLst>
          </p:cNvPr>
          <p:cNvSpPr>
            <a:spLocks noGrp="1"/>
          </p:cNvSpPr>
          <p:nvPr>
            <p:ph idx="1"/>
          </p:nvPr>
        </p:nvSpPr>
        <p:spPr/>
        <p:txBody>
          <a:bodyPr>
            <a:normAutofit fontScale="62500" lnSpcReduction="20000"/>
          </a:bodyPr>
          <a:lstStyle/>
          <a:p>
            <a:endParaRPr lang="en-US" dirty="0"/>
          </a:p>
          <a:p>
            <a:endParaRPr lang="en-US" dirty="0"/>
          </a:p>
          <a:p>
            <a:endParaRPr lang="en-US" dirty="0"/>
          </a:p>
          <a:p>
            <a:r>
              <a:rPr lang="en-US" dirty="0"/>
              <a:t>Education is the process of acquiring knowledge, skills, values and attitudes that helps individuals grow and develop. Education plays the greatest role in shaping individuals and societies. Education and schooling has been a part of human civilization for thousands of years. But education and learning system had a drastic change from the past and now. Like in the 70’s education relied more on traditional teaching methods like lectures and textbooks. But nowadays, everyone has access to advanced </a:t>
            </a:r>
            <a:r>
              <a:rPr lang="en-US" dirty="0" err="1"/>
              <a:t>technologies,interactive</a:t>
            </a:r>
            <a:r>
              <a:rPr lang="en-US" dirty="0"/>
              <a:t> teaching tools and online learning. Additionally, there has been a shift towards more student-centered and collaborative learning approaches, rather than only memorizing a topic. Thus, the evolution of education as been really </a:t>
            </a:r>
            <a:r>
              <a:rPr lang="en-US" dirty="0" err="1"/>
              <a:t>exiciting</a:t>
            </a:r>
            <a:r>
              <a:rPr lang="en-US" dirty="0"/>
              <a:t>.</a:t>
            </a:r>
          </a:p>
          <a:p>
            <a:endParaRPr lang="en-US" dirty="0"/>
          </a:p>
          <a:p>
            <a:r>
              <a:rPr lang="en-US" dirty="0"/>
              <a:t>Purpose of this comparison is to examine the </a:t>
            </a:r>
            <a:r>
              <a:rPr lang="en-US" dirty="0" err="1"/>
              <a:t>changes,improvements</a:t>
            </a:r>
            <a:r>
              <a:rPr lang="en-US" dirty="0"/>
              <a:t> and advancements of education system between now and in the 70’s. We can witness how the advancement of technologies has impacted the teaching method in the recent years.</a:t>
            </a:r>
          </a:p>
          <a:p>
            <a:endParaRPr lang="en-US" dirty="0"/>
          </a:p>
          <a:p>
            <a:pPr marL="0" indent="0">
              <a:buNone/>
            </a:pPr>
            <a:r>
              <a:rPr lang="en-US" dirty="0"/>
              <a:t> </a:t>
            </a:r>
          </a:p>
          <a:p>
            <a:endParaRPr lang="en-US" dirty="0"/>
          </a:p>
          <a:p>
            <a:endParaRPr lang="en-US" dirty="0"/>
          </a:p>
        </p:txBody>
      </p:sp>
      <p:pic>
        <p:nvPicPr>
          <p:cNvPr id="5" name="Picture 4">
            <a:extLst>
              <a:ext uri="{FF2B5EF4-FFF2-40B4-BE49-F238E27FC236}">
                <a16:creationId xmlns:a16="http://schemas.microsoft.com/office/drawing/2014/main" id="{9D9E906A-D022-84E2-8516-15D26183F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5139" y="154119"/>
            <a:ext cx="3924692" cy="2504240"/>
          </a:xfrm>
          <a:prstGeom prst="rect">
            <a:avLst/>
          </a:prstGeom>
        </p:spPr>
      </p:pic>
    </p:spTree>
    <p:extLst>
      <p:ext uri="{BB962C8B-B14F-4D97-AF65-F5344CB8AC3E}">
        <p14:creationId xmlns:p14="http://schemas.microsoft.com/office/powerpoint/2010/main" val="533395802"/>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60CE-12D2-CA60-BF26-F8890CBA4C9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F065265-0729-2077-2317-5BD40618E339}"/>
              </a:ext>
            </a:extLst>
          </p:cNvPr>
          <p:cNvSpPr>
            <a:spLocks noGrp="1"/>
          </p:cNvSpPr>
          <p:nvPr>
            <p:ph idx="1"/>
          </p:nvPr>
        </p:nvSpPr>
        <p:spPr/>
        <p:txBody>
          <a:bodyPr>
            <a:normAutofit fontScale="77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In the past when it comes to education, there was a sense of nostalgia of the simpler times, traditional teaching methods and personal connection between teachers and students. But in the present time technologies gives us access to vast information and more interactive learning experiences. Therefore, it is a balance between cherishing the past and embracing advancements of the present.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E76360E1-4237-F282-DF7D-85C258144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632" y="1725152"/>
            <a:ext cx="4910736" cy="2852071"/>
          </a:xfrm>
          <a:prstGeom prst="rect">
            <a:avLst/>
          </a:prstGeom>
        </p:spPr>
      </p:pic>
    </p:spTree>
    <p:extLst>
      <p:ext uri="{BB962C8B-B14F-4D97-AF65-F5344CB8AC3E}">
        <p14:creationId xmlns:p14="http://schemas.microsoft.com/office/powerpoint/2010/main" val="4182541487"/>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27E89-4284-97DC-77EB-7B79027192DD}"/>
              </a:ext>
            </a:extLst>
          </p:cNvPr>
          <p:cNvSpPr>
            <a:spLocks noGrp="1"/>
          </p:cNvSpPr>
          <p:nvPr>
            <p:ph type="title"/>
          </p:nvPr>
        </p:nvSpPr>
        <p:spPr/>
        <p:txBody>
          <a:bodyPr/>
          <a:lstStyle/>
          <a:p>
            <a:pPr algn="ctr"/>
            <a:r>
              <a:rPr lang="en-US" dirty="0"/>
              <a:t>Main Body</a:t>
            </a:r>
          </a:p>
        </p:txBody>
      </p:sp>
      <p:sp>
        <p:nvSpPr>
          <p:cNvPr id="3" name="Content Placeholder 2">
            <a:extLst>
              <a:ext uri="{FF2B5EF4-FFF2-40B4-BE49-F238E27FC236}">
                <a16:creationId xmlns:a16="http://schemas.microsoft.com/office/drawing/2014/main" id="{6E47C340-1F9A-B16E-D1C6-4683B799E542}"/>
              </a:ext>
            </a:extLst>
          </p:cNvPr>
          <p:cNvSpPr>
            <a:spLocks noGrp="1"/>
          </p:cNvSpPr>
          <p:nvPr>
            <p:ph idx="1"/>
          </p:nvPr>
        </p:nvSpPr>
        <p:spPr/>
        <p:txBody>
          <a:bodyPr>
            <a:normAutofit fontScale="85000" lnSpcReduction="20000"/>
          </a:bodyPr>
          <a:lstStyle/>
          <a:p>
            <a:pPr marL="0" indent="0">
              <a:buNone/>
            </a:pPr>
            <a:endParaRPr lang="en-US" dirty="0"/>
          </a:p>
          <a:p>
            <a:endParaRPr lang="en-US" b="1" dirty="0"/>
          </a:p>
          <a:p>
            <a:endParaRPr lang="en-US" b="1" dirty="0"/>
          </a:p>
          <a:p>
            <a:endParaRPr lang="en-US" b="1" dirty="0"/>
          </a:p>
          <a:p>
            <a:endParaRPr lang="en-US" b="1" dirty="0"/>
          </a:p>
          <a:p>
            <a:endParaRPr lang="en-US" b="1" dirty="0"/>
          </a:p>
          <a:p>
            <a:r>
              <a:rPr lang="en-US" b="1" dirty="0"/>
              <a:t>Technological Advancements: </a:t>
            </a:r>
            <a:r>
              <a:rPr lang="en-US" dirty="0"/>
              <a:t>In the 70’s education was mostly relied on textbooks and classrooms relied on traditional looks and chalkboards. Nowadays, due to technologies students can have interactive learning experiences, online resources, virtual classrooms etc. Students can learn things anytime by watching </a:t>
            </a:r>
            <a:r>
              <a:rPr lang="en-US" dirty="0" err="1"/>
              <a:t>youtube</a:t>
            </a:r>
            <a:r>
              <a:rPr lang="en-US" dirty="0"/>
              <a:t> videos and if they </a:t>
            </a:r>
            <a:r>
              <a:rPr lang="en-US" dirty="0" err="1"/>
              <a:t>wanna</a:t>
            </a:r>
            <a:r>
              <a:rPr lang="en-US" dirty="0"/>
              <a:t> know about certain facts they can search for their answers in google and know about so many things in few minutes. Thus, Technological advancements made education and learning system a lot easier.</a:t>
            </a:r>
          </a:p>
          <a:p>
            <a:pPr marL="0" indent="0">
              <a:buNone/>
            </a:pPr>
            <a:endParaRPr lang="en-US" dirty="0"/>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A1F90B3B-D234-C87C-38EE-F2E22A4547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2514" y="1447808"/>
            <a:ext cx="5106972" cy="2553486"/>
          </a:xfrm>
          <a:prstGeom prst="rect">
            <a:avLst/>
          </a:prstGeom>
        </p:spPr>
      </p:pic>
    </p:spTree>
    <p:extLst>
      <p:ext uri="{BB962C8B-B14F-4D97-AF65-F5344CB8AC3E}">
        <p14:creationId xmlns:p14="http://schemas.microsoft.com/office/powerpoint/2010/main" val="4082933116"/>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53BA-D659-7778-548C-AB8700AE4E3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90C2F8F-BE93-0A9B-9574-55418C0B306B}"/>
              </a:ext>
            </a:extLst>
          </p:cNvPr>
          <p:cNvSpPr>
            <a:spLocks noGrp="1"/>
          </p:cNvSpPr>
          <p:nvPr>
            <p:ph idx="1"/>
          </p:nvPr>
        </p:nvSpPr>
        <p:spPr/>
        <p:txBody>
          <a:bodyPr>
            <a:normAutofit fontScale="85000" lnSpcReduction="20000"/>
          </a:bodyPr>
          <a:lstStyle/>
          <a:p>
            <a:endParaRPr lang="en-US" b="1" dirty="0"/>
          </a:p>
          <a:p>
            <a:endParaRPr lang="en-US" b="1" dirty="0"/>
          </a:p>
          <a:p>
            <a:endParaRPr lang="en-US" b="1" dirty="0"/>
          </a:p>
          <a:p>
            <a:endParaRPr lang="en-US" b="1" dirty="0"/>
          </a:p>
          <a:p>
            <a:endParaRPr lang="en-US" b="1" dirty="0"/>
          </a:p>
          <a:p>
            <a:endParaRPr lang="en-US" b="1" dirty="0"/>
          </a:p>
          <a:p>
            <a:r>
              <a:rPr lang="en-US" b="1" dirty="0"/>
              <a:t>Globalization and Access: </a:t>
            </a:r>
            <a:r>
              <a:rPr lang="en-US" dirty="0"/>
              <a:t>Due to the technological advancements and internet, educational resources are more accessible than before. Online platforms, such as e-learning websites and virtual classrooms have made it possible for students to access quality education regardless of their geographical location. Additionally, globalization has led to the sharing of educational best practices and innovative teaching methods across borders, improving the overall quality of education globally.</a:t>
            </a:r>
            <a:endParaRPr lang="en-US" b="1" dirty="0"/>
          </a:p>
        </p:txBody>
      </p:sp>
      <p:pic>
        <p:nvPicPr>
          <p:cNvPr id="5" name="Picture 4">
            <a:extLst>
              <a:ext uri="{FF2B5EF4-FFF2-40B4-BE49-F238E27FC236}">
                <a16:creationId xmlns:a16="http://schemas.microsoft.com/office/drawing/2014/main" id="{774BB13A-19F2-5571-FE97-164E0BF47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6100" y="1690688"/>
            <a:ext cx="6019800" cy="2366962"/>
          </a:xfrm>
          <a:prstGeom prst="rect">
            <a:avLst/>
          </a:prstGeom>
        </p:spPr>
      </p:pic>
    </p:spTree>
    <p:extLst>
      <p:ext uri="{BB962C8B-B14F-4D97-AF65-F5344CB8AC3E}">
        <p14:creationId xmlns:p14="http://schemas.microsoft.com/office/powerpoint/2010/main" val="1878621066"/>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5B820-6E3E-6868-3516-FFB359417B3C}"/>
              </a:ext>
            </a:extLst>
          </p:cNvPr>
          <p:cNvSpPr>
            <a:spLocks noGrp="1"/>
          </p:cNvSpPr>
          <p:nvPr>
            <p:ph type="title"/>
          </p:nvPr>
        </p:nvSpPr>
        <p:spPr>
          <a:xfrm>
            <a:off x="960748" y="819845"/>
            <a:ext cx="10515600" cy="1325563"/>
          </a:xfrm>
        </p:spPr>
        <p:txBody>
          <a:bodyPr/>
          <a:lstStyle/>
          <a:p>
            <a:endParaRPr lang="en-US" dirty="0"/>
          </a:p>
        </p:txBody>
      </p:sp>
      <p:sp>
        <p:nvSpPr>
          <p:cNvPr id="3" name="Content Placeholder 2">
            <a:extLst>
              <a:ext uri="{FF2B5EF4-FFF2-40B4-BE49-F238E27FC236}">
                <a16:creationId xmlns:a16="http://schemas.microsoft.com/office/drawing/2014/main" id="{5EE15199-E23F-8F41-FC49-73A99D02D938}"/>
              </a:ext>
            </a:extLst>
          </p:cNvPr>
          <p:cNvSpPr>
            <a:spLocks noGrp="1"/>
          </p:cNvSpPr>
          <p:nvPr>
            <p:ph idx="1"/>
          </p:nvPr>
        </p:nvSpPr>
        <p:spPr/>
        <p:txBody>
          <a:bodyPr>
            <a:normAutofit fontScale="92500" lnSpcReduction="20000"/>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pPr marL="0" indent="0">
              <a:buNone/>
            </a:pPr>
            <a:r>
              <a:rPr lang="en-US" b="1" dirty="0"/>
              <a:t>Different Learning Methods:</a:t>
            </a:r>
            <a:r>
              <a:rPr lang="en-US" dirty="0"/>
              <a:t> In the 70’s education  system leaned towards more memorization. On the other hand, modern education emphasizes student centered learnings, critical learnings, creativity and collaboration. New ideas are more appreciated nowadays.</a:t>
            </a:r>
          </a:p>
          <a:p>
            <a:endParaRPr lang="en-US" b="1" dirty="0"/>
          </a:p>
          <a:p>
            <a:endParaRPr lang="en-US" dirty="0"/>
          </a:p>
        </p:txBody>
      </p:sp>
      <p:pic>
        <p:nvPicPr>
          <p:cNvPr id="7" name="Picture 6">
            <a:extLst>
              <a:ext uri="{FF2B5EF4-FFF2-40B4-BE49-F238E27FC236}">
                <a16:creationId xmlns:a16="http://schemas.microsoft.com/office/drawing/2014/main" id="{6CA0D455-8BBB-0ECA-8F4F-D8263407C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8417" y="1714500"/>
            <a:ext cx="5635167" cy="2702824"/>
          </a:xfrm>
          <a:prstGeom prst="rect">
            <a:avLst/>
          </a:prstGeom>
        </p:spPr>
      </p:pic>
    </p:spTree>
    <p:extLst>
      <p:ext uri="{BB962C8B-B14F-4D97-AF65-F5344CB8AC3E}">
        <p14:creationId xmlns:p14="http://schemas.microsoft.com/office/powerpoint/2010/main" val="4212126121"/>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254C8-8B49-6599-2BBF-B57EDC44AC1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5D92B5-A628-39C9-6986-F4F48F65AE10}"/>
              </a:ext>
            </a:extLst>
          </p:cNvPr>
          <p:cNvSpPr>
            <a:spLocks noGrp="1"/>
          </p:cNvSpPr>
          <p:nvPr>
            <p:ph idx="1"/>
          </p:nvPr>
        </p:nvSpPr>
        <p:spPr/>
        <p:txBody>
          <a:bodyPr>
            <a:normAutofit fontScale="92500" lnSpcReduction="10000"/>
          </a:bodyPr>
          <a:lstStyle/>
          <a:p>
            <a:endParaRPr lang="en-US" b="1" dirty="0"/>
          </a:p>
          <a:p>
            <a:endParaRPr lang="en-US" b="1" dirty="0"/>
          </a:p>
          <a:p>
            <a:endParaRPr lang="en-US" b="1" dirty="0"/>
          </a:p>
          <a:p>
            <a:endParaRPr lang="en-US" b="1" dirty="0"/>
          </a:p>
          <a:p>
            <a:endParaRPr lang="en-US" b="1" dirty="0"/>
          </a:p>
          <a:p>
            <a:endParaRPr lang="en-US" b="1" dirty="0"/>
          </a:p>
          <a:p>
            <a:r>
              <a:rPr lang="en-US" b="1" dirty="0"/>
              <a:t>Diversity and Inclusion: </a:t>
            </a:r>
            <a:r>
              <a:rPr lang="en-US" dirty="0"/>
              <a:t>While the 70’s had limited attention to diversity and inclusion, modern education strives for equity welcoming learners from diverse backgrounds and addressing systemic barriers to education and learning about diverse cultures too.</a:t>
            </a:r>
          </a:p>
          <a:p>
            <a:endParaRPr lang="en-US" dirty="0"/>
          </a:p>
          <a:p>
            <a:pPr marL="0" indent="0">
              <a:buNone/>
            </a:pPr>
            <a:endParaRPr lang="en-US" dirty="0"/>
          </a:p>
        </p:txBody>
      </p:sp>
      <p:pic>
        <p:nvPicPr>
          <p:cNvPr id="5" name="Picture 4">
            <a:extLst>
              <a:ext uri="{FF2B5EF4-FFF2-40B4-BE49-F238E27FC236}">
                <a16:creationId xmlns:a16="http://schemas.microsoft.com/office/drawing/2014/main" id="{742F7E5F-AD41-5A1D-D510-60C40B727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257" y="1690688"/>
            <a:ext cx="6567487" cy="2686050"/>
          </a:xfrm>
          <a:prstGeom prst="rect">
            <a:avLst/>
          </a:prstGeom>
        </p:spPr>
      </p:pic>
    </p:spTree>
    <p:extLst>
      <p:ext uri="{BB962C8B-B14F-4D97-AF65-F5344CB8AC3E}">
        <p14:creationId xmlns:p14="http://schemas.microsoft.com/office/powerpoint/2010/main" val="2627688170"/>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14D4A-510F-D1BE-15EE-A7F80323E305}"/>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2FFDE59D-B96B-3A9F-D2F8-7CFA4BEEDEC0}"/>
              </a:ext>
            </a:extLst>
          </p:cNvPr>
          <p:cNvSpPr>
            <a:spLocks noGrp="1"/>
          </p:cNvSpPr>
          <p:nvPr>
            <p:ph idx="1"/>
          </p:nvPr>
        </p:nvSpPr>
        <p:spPr/>
        <p:txBody>
          <a:bodyPr>
            <a:normAutofit fontScale="85000" lnSpcReduction="20000"/>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Good and bad aspects of modern education system: </a:t>
            </a:r>
            <a:r>
              <a:rPr lang="en-US" dirty="0"/>
              <a:t>Modern education has embraced technological advancements, making learning more interactive and easy. Students can learn and know about things in any time and learn things at their own pace. But despite it’s benefits, there are some challenges too.  Increased reliance on technology can lead distractions and reduce face to face interaction. Also plagiarism became more common these days.</a:t>
            </a:r>
          </a:p>
          <a:p>
            <a:pPr marL="0" indent="0">
              <a:buNone/>
            </a:pPr>
            <a:endParaRPr lang="en-US" b="1" dirty="0"/>
          </a:p>
        </p:txBody>
      </p:sp>
      <p:pic>
        <p:nvPicPr>
          <p:cNvPr id="5" name="Picture 4">
            <a:extLst>
              <a:ext uri="{FF2B5EF4-FFF2-40B4-BE49-F238E27FC236}">
                <a16:creationId xmlns:a16="http://schemas.microsoft.com/office/drawing/2014/main" id="{C748A921-7992-0BCD-71FA-A31B0F2D7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757" y="1673734"/>
            <a:ext cx="6186487" cy="2736340"/>
          </a:xfrm>
          <a:prstGeom prst="rect">
            <a:avLst/>
          </a:prstGeom>
        </p:spPr>
      </p:pic>
    </p:spTree>
    <p:extLst>
      <p:ext uri="{BB962C8B-B14F-4D97-AF65-F5344CB8AC3E}">
        <p14:creationId xmlns:p14="http://schemas.microsoft.com/office/powerpoint/2010/main" val="2526496202"/>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770B-6485-564D-1F11-80B68D309BF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D08C68A-8647-5583-3265-58787F2532FE}"/>
              </a:ext>
            </a:extLst>
          </p:cNvPr>
          <p:cNvSpPr>
            <a:spLocks noGrp="1"/>
          </p:cNvSpPr>
          <p:nvPr>
            <p:ph idx="1"/>
          </p:nvPr>
        </p:nvSpPr>
        <p:spPr/>
        <p:txBody>
          <a:bodyPr>
            <a:normAutofit fontScale="85000" lnSpcReduction="20000"/>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Good and bad aspects of 70’s education system: </a:t>
            </a:r>
            <a:r>
              <a:rPr lang="en-US" dirty="0"/>
              <a:t>In 70’s education system emphasized strong foundation knowledge and focused more on core subjects like </a:t>
            </a:r>
            <a:r>
              <a:rPr lang="en-US" dirty="0" err="1"/>
              <a:t>Maths</a:t>
            </a:r>
            <a:r>
              <a:rPr lang="en-US" dirty="0"/>
              <a:t>, Science, language arts. More emphasis was given on discipline and respect for authorities. But the teaching methods were more rigid and depended more on memorization. Critical and creative thinkings were not always encouraged</a:t>
            </a:r>
          </a:p>
        </p:txBody>
      </p:sp>
      <p:pic>
        <p:nvPicPr>
          <p:cNvPr id="5" name="Picture 4">
            <a:extLst>
              <a:ext uri="{FF2B5EF4-FFF2-40B4-BE49-F238E27FC236}">
                <a16:creationId xmlns:a16="http://schemas.microsoft.com/office/drawing/2014/main" id="{9FDEDD1E-FF8E-C775-1CA9-1E6C5B7299B8}"/>
              </a:ext>
            </a:extLst>
          </p:cNvPr>
          <p:cNvPicPr>
            <a:picLocks noChangeAspect="1"/>
          </p:cNvPicPr>
          <p:nvPr/>
        </p:nvPicPr>
        <p:blipFill>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3685880" y="1690688"/>
            <a:ext cx="5797485" cy="2615828"/>
          </a:xfrm>
          <a:prstGeom prst="rect">
            <a:avLst/>
          </a:prstGeom>
        </p:spPr>
      </p:pic>
    </p:spTree>
    <p:extLst>
      <p:ext uri="{BB962C8B-B14F-4D97-AF65-F5344CB8AC3E}">
        <p14:creationId xmlns:p14="http://schemas.microsoft.com/office/powerpoint/2010/main" val="2799218656"/>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B51E1-4111-BD44-E831-E136219422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964A01B-4B35-43AB-4B55-040143D8FF95}"/>
              </a:ext>
            </a:extLst>
          </p:cNvPr>
          <p:cNvSpPr>
            <a:spLocks noGrp="1"/>
          </p:cNvSpPr>
          <p:nvPr>
            <p:ph idx="1"/>
          </p:nvPr>
        </p:nvSpPr>
        <p:spPr/>
        <p:txBody>
          <a:bodyPr>
            <a:normAutofit fontScale="92500" lnSpcReduction="10000"/>
          </a:bodyPr>
          <a:lstStyle/>
          <a:p>
            <a:endParaRPr lang="en-US" b="1" dirty="0"/>
          </a:p>
          <a:p>
            <a:endParaRPr lang="en-US" b="1" dirty="0"/>
          </a:p>
          <a:p>
            <a:endParaRPr lang="en-US" b="1" dirty="0"/>
          </a:p>
          <a:p>
            <a:endParaRPr lang="en-US" b="1" dirty="0"/>
          </a:p>
          <a:p>
            <a:endParaRPr lang="en-US" b="1" dirty="0"/>
          </a:p>
          <a:p>
            <a:r>
              <a:rPr lang="en-US" b="1" dirty="0"/>
              <a:t>Future Education System: </a:t>
            </a:r>
            <a:r>
              <a:rPr lang="en-US" dirty="0"/>
              <a:t>In the future education will be even more accessible, technology driven and personalized. More importance should be given on critical thinking, creativity and also the adaptability of the students in order to prepare them for the ever evolving world. Finally, we should be optimistic about the future education system acknowledging the challenges but also the exciting possibilities that lies ahead.</a:t>
            </a:r>
            <a:endParaRPr lang="en-US" b="1" dirty="0"/>
          </a:p>
        </p:txBody>
      </p:sp>
      <p:pic>
        <p:nvPicPr>
          <p:cNvPr id="5" name="Picture 4">
            <a:extLst>
              <a:ext uri="{FF2B5EF4-FFF2-40B4-BE49-F238E27FC236}">
                <a16:creationId xmlns:a16="http://schemas.microsoft.com/office/drawing/2014/main" id="{967464B6-E9DE-0D1F-C4D4-2E66E26914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388" y="1552575"/>
            <a:ext cx="5229225" cy="2274707"/>
          </a:xfrm>
          <a:prstGeom prst="rect">
            <a:avLst/>
          </a:prstGeom>
        </p:spPr>
      </p:pic>
    </p:spTree>
    <p:extLst>
      <p:ext uri="{BB962C8B-B14F-4D97-AF65-F5344CB8AC3E}">
        <p14:creationId xmlns:p14="http://schemas.microsoft.com/office/powerpoint/2010/main" val="2975922570"/>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alpha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1966-1DA3-5541-7990-CA5D7EEEAF2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D735D8D-5237-E9DF-3E79-02C38DC9659B}"/>
              </a:ext>
            </a:extLst>
          </p:cNvPr>
          <p:cNvSpPr>
            <a:spLocks noGrp="1"/>
          </p:cNvSpPr>
          <p:nvPr>
            <p:ph idx="1"/>
          </p:nvPr>
        </p:nvSpPr>
        <p:spPr/>
        <p:txBody>
          <a:bodyPr>
            <a:normAutofit/>
          </a:bodyPr>
          <a:lstStyle/>
          <a:p>
            <a:pPr marL="0" indent="0" algn="ctr">
              <a:buNone/>
            </a:pPr>
            <a:r>
              <a:rPr lang="en-US" sz="9600" b="1" dirty="0">
                <a:solidFill>
                  <a:srgbClr val="FFFF00"/>
                </a:solidFill>
              </a:rPr>
              <a:t>Thank You</a:t>
            </a:r>
          </a:p>
        </p:txBody>
      </p:sp>
    </p:spTree>
    <p:extLst>
      <p:ext uri="{BB962C8B-B14F-4D97-AF65-F5344CB8AC3E}">
        <p14:creationId xmlns:p14="http://schemas.microsoft.com/office/powerpoint/2010/main" val="2538273123"/>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738</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How Is Education Different Now Than It Was In The 70’s</vt:lpstr>
      <vt:lpstr>                      Group Presenters</vt:lpstr>
      <vt:lpstr>Introduction</vt:lpstr>
      <vt:lpstr>PowerPoint Presentation</vt:lpstr>
      <vt:lpstr>Main Body</vt:lpstr>
      <vt:lpstr>PowerPoint Presentation</vt:lpstr>
      <vt:lpstr>PowerPoint Presentation</vt:lpstr>
      <vt:lpstr>PowerPoint Presentation</vt:lpstr>
      <vt:lpstr>Conclusion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Is Education Different Now Than It Was In The 70’s</dc:title>
  <dc:creator>Raiyan Farhaz</dc:creator>
  <cp:lastModifiedBy>Raiyan Farhaz</cp:lastModifiedBy>
  <cp:revision>30</cp:revision>
  <dcterms:created xsi:type="dcterms:W3CDTF">2024-02-20T14:33:40Z</dcterms:created>
  <dcterms:modified xsi:type="dcterms:W3CDTF">2024-03-19T00:53:25Z</dcterms:modified>
</cp:coreProperties>
</file>